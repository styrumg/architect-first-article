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B7D51F-EA73-4E13-9726-440F67E1D77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E79CD7-5BAC-4716-9D57-322A5D3B872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14C2C8-E020-459C-A73A-90C9F1D3426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7461DA-A1BA-4DB7-9BF5-0ACDA32E489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6EEFC-B0DD-4F2D-AEF1-BA6734D527E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E4F2D1-D6F0-4172-A7B3-053960C0E77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E99995-DA07-4E2C-A35B-70BE139A08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66196B-F5D6-4F17-A029-D6610E2349C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D9B251-10D7-4E51-99AD-CE1E02A3910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480007-3D2E-4716-A6C6-968804B4897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6E9F7F-78B6-4435-8600-41DDF4E1DDD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B41D5F-110E-4DAD-B881-638AC1D38B9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E4CEDA-07BC-44C2-B80D-D82FF105F17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32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10EBBEB-742C-49AE-BF36-6B3B67D41F3A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58440" y="658440"/>
            <a:ext cx="5851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Architect First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85800" y="1444680"/>
            <a:ext cx="61261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91e9ff"/>
                </a:solidFill>
                <a:effectLst/>
                <a:uFillTx/>
                <a:latin typeface="Aptos"/>
                <a:ea typeface="Aptos"/>
              </a:rPr>
              <a:t>Review intent before code exists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13160" y="190188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Summary of “Tell Your Coding Agent to Work as an Architect First”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132320" y="960120"/>
            <a:ext cx="1416960" cy="502560"/>
          </a:xfrm>
          <a:prstGeom prst="rect">
            <a:avLst/>
          </a:prstGeom>
          <a:solidFill>
            <a:srgbClr val="122337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Prompt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8549640" y="1206720"/>
            <a:ext cx="914400" cy="360"/>
          </a:xfrm>
          <a:prstGeom prst="line">
            <a:avLst/>
          </a:prstGeom>
          <a:ln w="2032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9464040" y="960120"/>
            <a:ext cx="1508400" cy="502560"/>
          </a:xfrm>
          <a:prstGeom prst="rect">
            <a:avLst/>
          </a:prstGeom>
          <a:solidFill>
            <a:srgbClr val="122337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Code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686800" y="70416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today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7845480" y="2011680"/>
            <a:ext cx="2368080" cy="360"/>
          </a:xfrm>
          <a:prstGeom prst="line">
            <a:avLst/>
          </a:prstGeom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452360" y="21488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e2b7"/>
                </a:solidFill>
                <a:effectLst/>
                <a:uFillTx/>
                <a:latin typeface="Aptos"/>
                <a:ea typeface="Aptos"/>
              </a:rPr>
              <a:t>missing inspection layer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446520" y="3017520"/>
            <a:ext cx="1325520" cy="502560"/>
          </a:xfrm>
          <a:prstGeom prst="rect">
            <a:avLst/>
          </a:prstGeom>
          <a:solidFill>
            <a:srgbClr val="1b334d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SIM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366760" y="3017520"/>
            <a:ext cx="1325520" cy="502560"/>
          </a:xfrm>
          <a:prstGeom prst="rect">
            <a:avLst/>
          </a:prstGeom>
          <a:solidFill>
            <a:srgbClr val="1b334d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FAM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0287000" y="3017520"/>
            <a:ext cx="1325520" cy="502560"/>
          </a:xfrm>
          <a:prstGeom prst="rect">
            <a:avLst/>
          </a:prstGeom>
          <a:solidFill>
            <a:srgbClr val="1b334d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Code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5806440" y="3273480"/>
            <a:ext cx="640080" cy="360"/>
          </a:xfrm>
          <a:prstGeom prst="line">
            <a:avLst/>
          </a:prstGeom>
          <a:ln w="2032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7772400" y="3273480"/>
            <a:ext cx="594360" cy="360"/>
          </a:xfrm>
          <a:prstGeom prst="line">
            <a:avLst/>
          </a:prstGeom>
          <a:ln w="2032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9692640" y="3273480"/>
            <a:ext cx="594360" cy="360"/>
          </a:xfrm>
          <a:prstGeom prst="line">
            <a:avLst/>
          </a:prstGeom>
          <a:ln w="2032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5870520" y="3840480"/>
            <a:ext cx="1645560" cy="319680"/>
          </a:xfrm>
          <a:prstGeom prst="rect">
            <a:avLst/>
          </a:prstGeom>
          <a:solidFill>
            <a:srgbClr val="38d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intent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7818120" y="3840480"/>
            <a:ext cx="1645560" cy="319680"/>
          </a:xfrm>
          <a:prstGeom prst="rect">
            <a:avLst/>
          </a:prstGeom>
          <a:solidFill>
            <a:srgbClr val="38d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design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9802440" y="3840480"/>
            <a:ext cx="1645560" cy="319680"/>
          </a:xfrm>
          <a:prstGeom prst="rect">
            <a:avLst/>
          </a:prstGeom>
          <a:solidFill>
            <a:srgbClr val="38d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implementation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713160" y="5230440"/>
            <a:ext cx="7406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Let the agent declare intent, show the design, pass the gates, then code.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Architect First · title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AF73A5E-DEEA-4E86-B562-76ABD4CCBDB7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1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The current workflow hides the dangerous part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Fast code generation is not the same as explicit intent.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731520" y="1828800"/>
            <a:ext cx="1828440" cy="639720"/>
          </a:xfrm>
          <a:prstGeom prst="rect">
            <a:avLst/>
          </a:prstGeom>
          <a:solidFill>
            <a:srgbClr val="14263a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Prose prompt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2560320" y="2148840"/>
            <a:ext cx="2194560" cy="360"/>
          </a:xfrm>
          <a:prstGeom prst="line">
            <a:avLst/>
          </a:prstGeom>
          <a:ln w="2032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4754880" y="1828800"/>
            <a:ext cx="1828440" cy="639720"/>
          </a:xfrm>
          <a:prstGeom prst="rect">
            <a:avLst/>
          </a:prstGeom>
          <a:solidFill>
            <a:srgbClr val="14263a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Code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2926080" y="2926080"/>
            <a:ext cx="3383280" cy="360"/>
          </a:xfrm>
          <a:prstGeom prst="line">
            <a:avLst/>
          </a:prstGeom>
          <a:ln w="1524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3072240" y="3090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e2b7"/>
                </a:solidFill>
                <a:effectLst/>
                <a:uFillTx/>
                <a:latin typeface="Aptos"/>
                <a:ea typeface="Aptos"/>
              </a:rPr>
              <a:t>unstated assumptions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7452360" y="1508760"/>
            <a:ext cx="40230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What crashes mid-operation?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Can a critical command vanish silently?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What enforces each guarantee?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How is recovery bounded?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777240" y="498348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The code may be fluent and tested, but it can still implement the wrong system.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Problem statement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sldNum" idx="6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F2AD554-F6F9-4F2B-940E-8E0E4D190FF8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2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Compiler analogy: missing IRs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Mature compilers do not jump directly from source to machine code.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594360" y="1828800"/>
            <a:ext cx="1416960" cy="529920"/>
          </a:xfrm>
          <a:prstGeom prst="rect">
            <a:avLst/>
          </a:prstGeom>
          <a:solidFill>
            <a:srgbClr val="11263a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Source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2468880" y="1828800"/>
            <a:ext cx="1325520" cy="529920"/>
          </a:xfrm>
          <a:prstGeom prst="rect">
            <a:avLst/>
          </a:prstGeom>
          <a:solidFill>
            <a:srgbClr val="17314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IR 1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4251960" y="1828800"/>
            <a:ext cx="1325520" cy="529920"/>
          </a:xfrm>
          <a:prstGeom prst="rect">
            <a:avLst/>
          </a:prstGeom>
          <a:solidFill>
            <a:srgbClr val="17314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IR 2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6035040" y="1828800"/>
            <a:ext cx="1508400" cy="529920"/>
          </a:xfrm>
          <a:prstGeom prst="rect">
            <a:avLst/>
          </a:prstGeom>
          <a:solidFill>
            <a:srgbClr val="11263a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Machine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6"/>
          <p:cNvSpPr/>
          <p:nvPr/>
        </p:nvSpPr>
        <p:spPr>
          <a:xfrm>
            <a:off x="2011680" y="2093760"/>
            <a:ext cx="457200" cy="360"/>
          </a:xfrm>
          <a:prstGeom prst="line">
            <a:avLst/>
          </a:prstGeom>
          <a:ln w="2032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3794760" y="2093760"/>
            <a:ext cx="457200" cy="360"/>
          </a:xfrm>
          <a:prstGeom prst="line">
            <a:avLst/>
          </a:prstGeom>
          <a:ln w="2032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5577840" y="2093760"/>
            <a:ext cx="457200" cy="360"/>
          </a:xfrm>
          <a:prstGeom prst="line">
            <a:avLst/>
          </a:prstGeom>
          <a:ln w="2032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2578680" y="2743200"/>
            <a:ext cx="1096920" cy="402120"/>
          </a:xfrm>
          <a:prstGeom prst="rect">
            <a:avLst/>
          </a:prstGeom>
          <a:solidFill>
            <a:srgbClr val="081322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e2b7"/>
                </a:solidFill>
                <a:effectLst/>
                <a:uFillTx/>
                <a:latin typeface="Aptos"/>
                <a:ea typeface="Aptos"/>
              </a:rPr>
              <a:t>verify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4361760" y="2743200"/>
            <a:ext cx="1096920" cy="402120"/>
          </a:xfrm>
          <a:prstGeom prst="rect">
            <a:avLst/>
          </a:prstGeom>
          <a:solidFill>
            <a:srgbClr val="081322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e2b7"/>
                </a:solidFill>
                <a:effectLst/>
                <a:uFillTx/>
                <a:latin typeface="Aptos"/>
                <a:ea typeface="Aptos"/>
              </a:rPr>
              <a:t>verify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3126960" y="2359080"/>
            <a:ext cx="360" cy="384120"/>
          </a:xfrm>
          <a:prstGeom prst="line">
            <a:avLst/>
          </a:prstGeom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2"/>
          <p:cNvSpPr/>
          <p:nvPr/>
        </p:nvSpPr>
        <p:spPr>
          <a:xfrm>
            <a:off x="4910040" y="2359080"/>
            <a:ext cx="360" cy="384120"/>
          </a:xfrm>
          <a:prstGeom prst="line">
            <a:avLst/>
          </a:prstGeom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731520" y="4160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AI coding today often skips that middle layer: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4892040" y="3977640"/>
            <a:ext cx="1782720" cy="566640"/>
          </a:xfrm>
          <a:prstGeom prst="rect">
            <a:avLst/>
          </a:prstGeom>
          <a:solidFill>
            <a:srgbClr val="122337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Prompt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5"/>
          <p:cNvSpPr/>
          <p:nvPr/>
        </p:nvSpPr>
        <p:spPr>
          <a:xfrm>
            <a:off x="6656760" y="4260960"/>
            <a:ext cx="1618560" cy="360"/>
          </a:xfrm>
          <a:prstGeom prst="line">
            <a:avLst/>
          </a:prstGeom>
          <a:ln w="20320">
            <a:solidFill>
              <a:srgbClr val="ff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8275320" y="3977640"/>
            <a:ext cx="1416960" cy="566640"/>
          </a:xfrm>
          <a:prstGeom prst="rect">
            <a:avLst/>
          </a:prstGeom>
          <a:solidFill>
            <a:srgbClr val="122337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Code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758880" y="534924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Architect First adds machine-checkable IRs for agentic software construction.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Compiler IR analogy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sldNum" idx="7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2C00A8D-5C81-4767-85CC-C2605C59046C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3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The proposed pipeline: declare, gate, derive, gate, code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Three commitments, three admission gates.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411480" y="1874520"/>
            <a:ext cx="1188360" cy="566640"/>
          </a:xfrm>
          <a:prstGeom prst="rect">
            <a:avLst/>
          </a:prstGeom>
          <a:solidFill>
            <a:srgbClr val="112235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Loop 0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questions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1965960" y="1874520"/>
            <a:ext cx="1142640" cy="566640"/>
          </a:xfrm>
          <a:prstGeom prst="rect">
            <a:avLst/>
          </a:prstGeom>
          <a:solidFill>
            <a:srgbClr val="17314b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SIM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intent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3703320" y="1874520"/>
            <a:ext cx="1142640" cy="566640"/>
          </a:xfrm>
          <a:prstGeom prst="rect">
            <a:avLst/>
          </a:prstGeom>
          <a:solidFill>
            <a:srgbClr val="112235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Gate 1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5394960" y="1874520"/>
            <a:ext cx="1142640" cy="566640"/>
          </a:xfrm>
          <a:prstGeom prst="rect">
            <a:avLst/>
          </a:prstGeom>
          <a:solidFill>
            <a:srgbClr val="17314b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FAM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design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7132320" y="1874520"/>
            <a:ext cx="1142640" cy="566640"/>
          </a:xfrm>
          <a:prstGeom prst="rect">
            <a:avLst/>
          </a:prstGeom>
          <a:solidFill>
            <a:srgbClr val="112235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Gate 2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8823960" y="1874520"/>
            <a:ext cx="1142640" cy="566640"/>
          </a:xfrm>
          <a:prstGeom prst="rect">
            <a:avLst/>
          </a:prstGeom>
          <a:solidFill>
            <a:srgbClr val="17314b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Code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10332720" y="1874520"/>
            <a:ext cx="1142640" cy="566640"/>
          </a:xfrm>
          <a:prstGeom prst="rect">
            <a:avLst/>
          </a:prstGeom>
          <a:solidFill>
            <a:srgbClr val="112235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Gate 3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1600200" y="2157840"/>
            <a:ext cx="365760" cy="360"/>
          </a:xfrm>
          <a:prstGeom prst="line">
            <a:avLst/>
          </a:prstGeom>
          <a:ln w="1778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3108960" y="2157840"/>
            <a:ext cx="594360" cy="360"/>
          </a:xfrm>
          <a:prstGeom prst="line">
            <a:avLst/>
          </a:prstGeom>
          <a:ln w="1778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4846320" y="2157840"/>
            <a:ext cx="548640" cy="360"/>
          </a:xfrm>
          <a:prstGeom prst="line">
            <a:avLst/>
          </a:prstGeom>
          <a:ln w="1778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6537960" y="2157840"/>
            <a:ext cx="594360" cy="360"/>
          </a:xfrm>
          <a:prstGeom prst="line">
            <a:avLst/>
          </a:prstGeom>
          <a:ln w="1778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8275320" y="2157840"/>
            <a:ext cx="548640" cy="360"/>
          </a:xfrm>
          <a:prstGeom prst="line">
            <a:avLst/>
          </a:prstGeom>
          <a:ln w="1778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9966960" y="2157840"/>
            <a:ext cx="365760" cy="360"/>
          </a:xfrm>
          <a:prstGeom prst="line">
            <a:avLst/>
          </a:prstGeom>
          <a:ln w="1778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5"/>
          <p:cNvSpPr/>
          <p:nvPr/>
        </p:nvSpPr>
        <p:spPr>
          <a:xfrm>
            <a:off x="2788920" y="2651760"/>
            <a:ext cx="360" cy="822960"/>
          </a:xfrm>
          <a:prstGeom prst="line">
            <a:avLst/>
          </a:prstGeom>
          <a:ln w="1397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 flipH="1">
            <a:off x="1965960" y="3474720"/>
            <a:ext cx="822960" cy="360"/>
          </a:xfrm>
          <a:prstGeom prst="line">
            <a:avLst/>
          </a:prstGeom>
          <a:ln w="1397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7"/>
          <p:cNvSpPr/>
          <p:nvPr/>
        </p:nvSpPr>
        <p:spPr>
          <a:xfrm flipV="1">
            <a:off x="1965960" y="2486880"/>
            <a:ext cx="360" cy="987840"/>
          </a:xfrm>
          <a:prstGeom prst="line">
            <a:avLst/>
          </a:prstGeom>
          <a:ln w="1397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6144480" y="2651760"/>
            <a:ext cx="360" cy="822960"/>
          </a:xfrm>
          <a:prstGeom prst="line">
            <a:avLst/>
          </a:prstGeom>
          <a:ln w="1397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 flipH="1">
            <a:off x="5394960" y="3474720"/>
            <a:ext cx="749520" cy="360"/>
          </a:xfrm>
          <a:prstGeom prst="line">
            <a:avLst/>
          </a:prstGeom>
          <a:ln w="1397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0"/>
          <p:cNvSpPr/>
          <p:nvPr/>
        </p:nvSpPr>
        <p:spPr>
          <a:xfrm flipV="1">
            <a:off x="5394960" y="2486880"/>
            <a:ext cx="360" cy="987840"/>
          </a:xfrm>
          <a:prstGeom prst="line">
            <a:avLst/>
          </a:prstGeom>
          <a:ln w="1397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1"/>
          <p:cNvSpPr/>
          <p:nvPr/>
        </p:nvSpPr>
        <p:spPr>
          <a:xfrm>
            <a:off x="11292840" y="2651760"/>
            <a:ext cx="360" cy="822960"/>
          </a:xfrm>
          <a:prstGeom prst="line">
            <a:avLst/>
          </a:prstGeom>
          <a:ln w="1397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2"/>
          <p:cNvSpPr/>
          <p:nvPr/>
        </p:nvSpPr>
        <p:spPr>
          <a:xfrm flipH="1">
            <a:off x="8823960" y="3474720"/>
            <a:ext cx="2468880" cy="360"/>
          </a:xfrm>
          <a:prstGeom prst="line">
            <a:avLst/>
          </a:prstGeom>
          <a:ln w="1397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3"/>
          <p:cNvSpPr/>
          <p:nvPr/>
        </p:nvSpPr>
        <p:spPr>
          <a:xfrm flipV="1">
            <a:off x="8823960" y="2486880"/>
            <a:ext cx="360" cy="987840"/>
          </a:xfrm>
          <a:prstGeom prst="line">
            <a:avLst/>
          </a:prstGeom>
          <a:ln w="1397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640080" y="4434840"/>
            <a:ext cx="5943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Gate failure is not red ink. It is a structured proof obligation.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5"/>
          <p:cNvSpPr/>
          <p:nvPr/>
        </p:nvSpPr>
        <p:spPr>
          <a:xfrm>
            <a:off x="6903720" y="4206240"/>
            <a:ext cx="45716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PASS moves the artifact forward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BLOCK returns precise findings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ESCALATE or ABORT terminates bounded loops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6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Method overview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sldNum" idx="8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22B3972-47AC-45F6-A2B2-7AB77223A23D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SIM: system intent as data, not a prose plan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The agent must expose what it thinks the system is.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685800" y="1508760"/>
            <a:ext cx="2742840" cy="3977280"/>
          </a:xfrm>
          <a:prstGeom prst="rect">
            <a:avLst/>
          </a:prstGeom>
          <a:solidFill>
            <a:srgbClr val="10263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System Intent Model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SIM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JSON / schema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IDs · claims · gaps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4023360" y="1325880"/>
            <a:ext cx="1965600" cy="594000"/>
          </a:xfrm>
          <a:prstGeom prst="rect">
            <a:avLst/>
          </a:prstGeom>
          <a:solidFill>
            <a:srgbClr val="182d44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Actors / components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 flipV="1">
            <a:off x="3429000" y="1627560"/>
            <a:ext cx="594360" cy="1865160"/>
          </a:xfrm>
          <a:prstGeom prst="line">
            <a:avLst/>
          </a:prstGeom>
          <a:ln w="1270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6903720" y="1325880"/>
            <a:ext cx="1965600" cy="594000"/>
          </a:xfrm>
          <a:prstGeom prst="rect">
            <a:avLst/>
          </a:prstGeom>
          <a:solidFill>
            <a:srgbClr val="182d44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Messages / contracts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 flipV="1">
            <a:off x="3429000" y="1627560"/>
            <a:ext cx="3474720" cy="1865160"/>
          </a:xfrm>
          <a:prstGeom prst="line">
            <a:avLst/>
          </a:prstGeom>
          <a:ln w="1270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9281160" y="1325880"/>
            <a:ext cx="1965600" cy="594000"/>
          </a:xfrm>
          <a:prstGeom prst="rect">
            <a:avLst/>
          </a:prstGeom>
          <a:solidFill>
            <a:srgbClr val="182d44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Guarantees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8"/>
          <p:cNvSpPr/>
          <p:nvPr/>
        </p:nvSpPr>
        <p:spPr>
          <a:xfrm flipV="1">
            <a:off x="3429000" y="1627560"/>
            <a:ext cx="5852160" cy="1865160"/>
          </a:xfrm>
          <a:prstGeom prst="line">
            <a:avLst/>
          </a:prstGeom>
          <a:ln w="1270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4023360" y="2743200"/>
            <a:ext cx="1965600" cy="594000"/>
          </a:xfrm>
          <a:prstGeom prst="rect">
            <a:avLst/>
          </a:prstGeom>
          <a:solidFill>
            <a:srgbClr val="182d44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Failure modes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0"/>
          <p:cNvSpPr/>
          <p:nvPr/>
        </p:nvSpPr>
        <p:spPr>
          <a:xfrm flipV="1">
            <a:off x="3429000" y="3044880"/>
            <a:ext cx="594360" cy="447840"/>
          </a:xfrm>
          <a:prstGeom prst="line">
            <a:avLst/>
          </a:prstGeom>
          <a:ln w="1270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6903720" y="2743200"/>
            <a:ext cx="1965600" cy="594000"/>
          </a:xfrm>
          <a:prstGeom prst="rect">
            <a:avLst/>
          </a:prstGeom>
          <a:solidFill>
            <a:srgbClr val="182d44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Bounds / resources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2"/>
          <p:cNvSpPr/>
          <p:nvPr/>
        </p:nvSpPr>
        <p:spPr>
          <a:xfrm flipV="1">
            <a:off x="3429000" y="3044880"/>
            <a:ext cx="3474720" cy="447840"/>
          </a:xfrm>
          <a:prstGeom prst="line">
            <a:avLst/>
          </a:prstGeom>
          <a:ln w="1270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9281160" y="2743200"/>
            <a:ext cx="1965600" cy="594000"/>
          </a:xfrm>
          <a:prstGeom prst="rect">
            <a:avLst/>
          </a:prstGeom>
          <a:solidFill>
            <a:srgbClr val="182d44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Open questions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4"/>
          <p:cNvSpPr/>
          <p:nvPr/>
        </p:nvSpPr>
        <p:spPr>
          <a:xfrm flipV="1">
            <a:off x="3429000" y="3044880"/>
            <a:ext cx="5852160" cy="447840"/>
          </a:xfrm>
          <a:prstGeom prst="line">
            <a:avLst/>
          </a:prstGeom>
          <a:ln w="1270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5"/>
          <p:cNvSpPr/>
          <p:nvPr/>
        </p:nvSpPr>
        <p:spPr>
          <a:xfrm>
            <a:off x="4023360" y="4937760"/>
            <a:ext cx="7223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Important property: “I don’t know” is a first-class field, not a hallucination trigger.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6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System Intent Model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sldNum" idx="9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BAA603D-9186-4459-AB26-8DB6D107CC82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Gate 1: catches dangerous intent-level omissions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A small, boring checker asks questions real systems force us to answer.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822960" y="1417320"/>
            <a:ext cx="2057040" cy="319680"/>
          </a:xfrm>
          <a:prstGeom prst="rect">
            <a:avLst/>
          </a:prstGeom>
          <a:solidFill>
            <a:srgbClr val="38d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Delivery coherence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3108960" y="1435680"/>
            <a:ext cx="7680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Can critical messages vanish silently?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822960" y="2240280"/>
            <a:ext cx="2057040" cy="319680"/>
          </a:xfrm>
          <a:prstGeom prst="rect">
            <a:avLst/>
          </a:prstGeom>
          <a:solidFill>
            <a:srgbClr val="ffb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Bounded recovery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3108960" y="2258640"/>
            <a:ext cx="7680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Can restarts or retries run forever?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822960" y="3063240"/>
            <a:ext cx="2057040" cy="319680"/>
          </a:xfrm>
          <a:prstGeom prst="rect">
            <a:avLst/>
          </a:prstGeom>
          <a:solidFill>
            <a:srgbClr val="38d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Invariant support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3108960" y="3081600"/>
            <a:ext cx="7680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Is a claimed guarantee backed by a mechanism?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822960" y="3886200"/>
            <a:ext cx="2057040" cy="319680"/>
          </a:xfrm>
          <a:prstGeom prst="rect">
            <a:avLst/>
          </a:prstGeom>
          <a:solidFill>
            <a:srgbClr val="ffb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Resource limits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3108960" y="3904560"/>
            <a:ext cx="7680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Can the system create unbounded instances?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822960" y="4709160"/>
            <a:ext cx="2057040" cy="319680"/>
          </a:xfrm>
          <a:prstGeom prst="rect">
            <a:avLst/>
          </a:prstGeom>
          <a:solidFill>
            <a:srgbClr val="38d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Corrigibility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3108960" y="4727520"/>
            <a:ext cx="7680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Can it be stopped without single-point failure?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8595360" y="5120640"/>
            <a:ext cx="2605680" cy="594000"/>
          </a:xfrm>
          <a:prstGeom prst="rect">
            <a:avLst/>
          </a:prstGeom>
          <a:solidFill>
            <a:srgbClr val="2b1b22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BLOCK → revise SIM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Gate 1 intent checks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sldNum" idx="10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3894C1D-9EA9-49CC-9CB5-A5B5D05A052F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FAM: architecture as a checkable blueprint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The approved intent is lowered into design.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685800" y="1417320"/>
            <a:ext cx="1828440" cy="548280"/>
          </a:xfrm>
          <a:prstGeom prst="rect">
            <a:avLst/>
          </a:prstGeom>
          <a:solidFill>
            <a:srgbClr val="10263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Accepted SIM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2514600" y="1691640"/>
            <a:ext cx="1143000" cy="360"/>
          </a:xfrm>
          <a:prstGeom prst="line">
            <a:avLst/>
          </a:prstGeom>
          <a:ln w="2032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3657600" y="1143000"/>
            <a:ext cx="2742840" cy="1096920"/>
          </a:xfrm>
          <a:prstGeom prst="rect">
            <a:avLst/>
          </a:prstGeom>
          <a:solidFill>
            <a:srgbClr val="17314b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Formal Architecture Model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FAM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5"/>
          <p:cNvSpPr/>
          <p:nvPr/>
        </p:nvSpPr>
        <p:spPr>
          <a:xfrm>
            <a:off x="6400800" y="1691640"/>
            <a:ext cx="1097280" cy="360"/>
          </a:xfrm>
          <a:prstGeom prst="line">
            <a:avLst/>
          </a:prstGeom>
          <a:ln w="2032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7498080" y="1417320"/>
            <a:ext cx="2148480" cy="548280"/>
          </a:xfrm>
          <a:prstGeom prst="rect">
            <a:avLst/>
          </a:prstGeom>
          <a:solidFill>
            <a:srgbClr val="10263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Code map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868680" y="28346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State × Event table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2011680" y="3246120"/>
            <a:ext cx="1142640" cy="39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Submit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3154680" y="3246120"/>
            <a:ext cx="1142640" cy="39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Done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4297680" y="3246120"/>
            <a:ext cx="1142640" cy="39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Fail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5440680" y="3246120"/>
            <a:ext cx="1142640" cy="39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Shutdown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868680" y="3639240"/>
            <a:ext cx="1142640" cy="39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Idle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2011680" y="363924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3154680" y="363924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4297680" y="363924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5440680" y="363924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868680" y="4032360"/>
            <a:ext cx="1142640" cy="39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Processing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2011680" y="403236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3154680" y="403236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4297680" y="403236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5440680" y="403236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2"/>
          <p:cNvSpPr/>
          <p:nvPr/>
        </p:nvSpPr>
        <p:spPr>
          <a:xfrm>
            <a:off x="868680" y="4425840"/>
            <a:ext cx="1142640" cy="39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Stopped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3"/>
          <p:cNvSpPr/>
          <p:nvPr/>
        </p:nvSpPr>
        <p:spPr>
          <a:xfrm>
            <a:off x="2011680" y="442584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4"/>
          <p:cNvSpPr/>
          <p:nvPr/>
        </p:nvSpPr>
        <p:spPr>
          <a:xfrm>
            <a:off x="3154680" y="442584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4297680" y="442584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6"/>
          <p:cNvSpPr/>
          <p:nvPr/>
        </p:nvSpPr>
        <p:spPr>
          <a:xfrm>
            <a:off x="5440680" y="4425840"/>
            <a:ext cx="1142640" cy="392760"/>
          </a:xfrm>
          <a:prstGeom prst="rect">
            <a:avLst/>
          </a:prstGeom>
          <a:solidFill>
            <a:srgbClr val="122337"/>
          </a:solidFill>
          <a:ln w="12700">
            <a:solidFill>
              <a:srgbClr val="2a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be28b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7"/>
          <p:cNvSpPr/>
          <p:nvPr/>
        </p:nvSpPr>
        <p:spPr>
          <a:xfrm>
            <a:off x="6949440" y="3063240"/>
            <a:ext cx="4205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5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Typed messages and ports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State machines and transition tables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Invariants mapped to enforcement locations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Traceability back to SIM IDs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8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Formal Architecture Model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sldNum" idx="11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5CC8C55-2E77-4A73-AEA9-89527ED72DE1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Gate 2: checks the design arithmetic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Once the design exists as data, these become computable facts.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822960" y="1600200"/>
            <a:ext cx="2742840" cy="731160"/>
          </a:xfrm>
          <a:prstGeom prst="rect">
            <a:avLst/>
          </a:prstGeom>
          <a:solidFill>
            <a:srgbClr val="12314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F1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table completeness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480560" y="1600200"/>
            <a:ext cx="2742840" cy="731160"/>
          </a:xfrm>
          <a:prstGeom prst="rect">
            <a:avLst/>
          </a:prstGeom>
          <a:solidFill>
            <a:srgbClr val="12314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F2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block-property match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8138160" y="1600200"/>
            <a:ext cx="2742840" cy="731160"/>
          </a:xfrm>
          <a:prstGeom prst="rect">
            <a:avLst/>
          </a:prstGeom>
          <a:solidFill>
            <a:srgbClr val="12314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F3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lowering integrity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822960" y="2926080"/>
            <a:ext cx="2742840" cy="731160"/>
          </a:xfrm>
          <a:prstGeom prst="rect">
            <a:avLst/>
          </a:prstGeom>
          <a:solidFill>
            <a:srgbClr val="17293f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F4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port coherence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4480560" y="2926080"/>
            <a:ext cx="2742840" cy="731160"/>
          </a:xfrm>
          <a:prstGeom prst="rect">
            <a:avLst/>
          </a:prstGeom>
          <a:solidFill>
            <a:srgbClr val="17293f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F5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guard-as-code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8138160" y="2926080"/>
            <a:ext cx="2742840" cy="731160"/>
          </a:xfrm>
          <a:prstGeom prst="rect">
            <a:avLst/>
          </a:prstGeom>
          <a:solidFill>
            <a:srgbClr val="17293f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F6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code readiness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914400" y="489204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Gate 2 rejects “looks plausible” designs when rows, ports, obligations, or trace links are missing.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Gate 2 design checks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ldNum" idx="12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E21BFD2-2786-44CA-8F2F-52027B559113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Gate 3: do not reinvent code review, route it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Existing analyzers remain the final gate over emitted code.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731520" y="1783080"/>
            <a:ext cx="2194200" cy="639720"/>
          </a:xfrm>
          <a:prstGeom prst="rect">
            <a:avLst/>
          </a:prstGeom>
          <a:solidFill>
            <a:srgbClr val="10263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Accepted FAM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2926080" y="2103120"/>
            <a:ext cx="731520" cy="360"/>
          </a:xfrm>
          <a:prstGeom prst="line">
            <a:avLst/>
          </a:prstGeom>
          <a:ln w="2032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3657600" y="1783080"/>
            <a:ext cx="1828440" cy="639720"/>
          </a:xfrm>
          <a:prstGeom prst="rect">
            <a:avLst/>
          </a:prstGeom>
          <a:solidFill>
            <a:srgbClr val="10263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Code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5486400" y="2103120"/>
            <a:ext cx="731520" cy="360"/>
          </a:xfrm>
          <a:prstGeom prst="line">
            <a:avLst/>
          </a:prstGeom>
          <a:ln w="20320">
            <a:solidFill>
              <a:srgbClr val="38d5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6217920" y="1417320"/>
            <a:ext cx="1828440" cy="502560"/>
          </a:xfrm>
          <a:prstGeom prst="rect">
            <a:avLst/>
          </a:prstGeom>
          <a:solidFill>
            <a:srgbClr val="17314b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SAST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6217920" y="2057400"/>
            <a:ext cx="1828440" cy="502560"/>
          </a:xfrm>
          <a:prstGeom prst="rect">
            <a:avLst/>
          </a:prstGeom>
          <a:solidFill>
            <a:srgbClr val="17314b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Tests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6217920" y="2697480"/>
            <a:ext cx="1828440" cy="502560"/>
          </a:xfrm>
          <a:prstGeom prst="rect">
            <a:avLst/>
          </a:prstGeom>
          <a:solidFill>
            <a:srgbClr val="17314b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Linters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8046720" y="2103120"/>
            <a:ext cx="1188720" cy="360"/>
          </a:xfrm>
          <a:prstGeom prst="line">
            <a:avLst/>
          </a:prstGeom>
          <a:ln w="2032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9235440" y="1783080"/>
            <a:ext cx="2102760" cy="639720"/>
          </a:xfrm>
          <a:prstGeom prst="rect">
            <a:avLst/>
          </a:prstGeom>
          <a:solidFill>
            <a:srgbClr val="112235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Verdict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822960" y="4206240"/>
            <a:ext cx="6034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Key rule: the agent may propose, but cannot admit its own output.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2"/>
          <p:cNvSpPr/>
          <p:nvPr/>
        </p:nvSpPr>
        <p:spPr>
          <a:xfrm>
            <a:off x="7315200" y="3886200"/>
            <a:ext cx="4160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4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Gate policy outside the agent’s write path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Evidence stored and replayable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Probabilistic sensors may observe; deterministic policy decides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Gate 3 and authority boundary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sldNum" idx="13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2265593-4F29-411E-A434-1AAB9AC6C462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Worked example: payment worker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One small system exercises all three levels.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731520" y="1417320"/>
            <a:ext cx="2194200" cy="621360"/>
          </a:xfrm>
          <a:prstGeom prst="rect">
            <a:avLst/>
          </a:prstGeom>
          <a:solidFill>
            <a:srgbClr val="261b21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Initial SIM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731520" y="2331720"/>
            <a:ext cx="2194200" cy="621360"/>
          </a:xfrm>
          <a:prstGeom prst="rect">
            <a:avLst/>
          </a:prstGeom>
          <a:solidFill>
            <a:srgbClr val="361922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BLOCK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1828800" y="2039040"/>
            <a:ext cx="360" cy="292680"/>
          </a:xfrm>
          <a:prstGeom prst="line">
            <a:avLst/>
          </a:prstGeom>
          <a:ln w="20320">
            <a:solidFill>
              <a:srgbClr val="ff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3611880" y="1417320"/>
            <a:ext cx="2194200" cy="621360"/>
          </a:xfrm>
          <a:prstGeom prst="rect">
            <a:avLst/>
          </a:prstGeom>
          <a:solidFill>
            <a:srgbClr val="14263a"/>
          </a:solidFill>
          <a:ln w="12700">
            <a:solidFill>
              <a:srgbClr val="8be2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Revised SIM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3611880" y="2331720"/>
            <a:ext cx="2194200" cy="621360"/>
          </a:xfrm>
          <a:prstGeom prst="rect">
            <a:avLst/>
          </a:prstGeom>
          <a:solidFill>
            <a:srgbClr val="142a25"/>
          </a:solidFill>
          <a:ln w="12700">
            <a:solidFill>
              <a:srgbClr val="8be2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PASS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4709160" y="2039040"/>
            <a:ext cx="360" cy="292680"/>
          </a:xfrm>
          <a:prstGeom prst="line">
            <a:avLst/>
          </a:prstGeom>
          <a:ln w="20320">
            <a:solidFill>
              <a:srgbClr val="8be2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6492240" y="1417320"/>
            <a:ext cx="2194200" cy="621360"/>
          </a:xfrm>
          <a:prstGeom prst="rect">
            <a:avLst/>
          </a:prstGeom>
          <a:solidFill>
            <a:srgbClr val="14263a"/>
          </a:solidFill>
          <a:ln w="12700">
            <a:solidFill>
              <a:srgbClr val="8be2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FAM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6492240" y="2331720"/>
            <a:ext cx="2194200" cy="621360"/>
          </a:xfrm>
          <a:prstGeom prst="rect">
            <a:avLst/>
          </a:prstGeom>
          <a:solidFill>
            <a:srgbClr val="142a25"/>
          </a:solidFill>
          <a:ln w="12700">
            <a:solidFill>
              <a:srgbClr val="8be2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SOUND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0"/>
          <p:cNvSpPr/>
          <p:nvPr/>
        </p:nvSpPr>
        <p:spPr>
          <a:xfrm>
            <a:off x="7589520" y="2039040"/>
            <a:ext cx="360" cy="292680"/>
          </a:xfrm>
          <a:prstGeom prst="line">
            <a:avLst/>
          </a:prstGeom>
          <a:ln w="20320">
            <a:solidFill>
              <a:srgbClr val="8be2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9372600" y="1417320"/>
            <a:ext cx="2194200" cy="621360"/>
          </a:xfrm>
          <a:prstGeom prst="rect">
            <a:avLst/>
          </a:prstGeom>
          <a:solidFill>
            <a:srgbClr val="14263a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Code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9372600" y="2331720"/>
            <a:ext cx="2194200" cy="621360"/>
          </a:xfrm>
          <a:prstGeom prst="rect">
            <a:avLst/>
          </a:prstGeom>
          <a:solidFill>
            <a:srgbClr val="271e19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BLOCK → FIX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3"/>
          <p:cNvSpPr/>
          <p:nvPr/>
        </p:nvSpPr>
        <p:spPr>
          <a:xfrm>
            <a:off x="10469880" y="2039040"/>
            <a:ext cx="360" cy="292680"/>
          </a:xfrm>
          <a:prstGeom prst="line">
            <a:avLst/>
          </a:prstGeom>
          <a:ln w="20320">
            <a:solidFill>
              <a:srgbClr val="ffb45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868680" y="37947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e2b7"/>
                </a:solidFill>
                <a:effectLst/>
                <a:uFillTx/>
                <a:latin typeface="Aptos"/>
              </a:rPr>
              <a:t>Gate 1 catches: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868680" y="4160520"/>
            <a:ext cx="2834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fire-and-forget payment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weak deduplication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unbounded restarts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8001000" y="37947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e2b7"/>
                </a:solidFill>
                <a:effectLst/>
                <a:uFillTx/>
                <a:latin typeface="Aptos"/>
              </a:rPr>
              <a:t>Gate 3 catches: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7"/>
          <p:cNvSpPr/>
          <p:nvPr/>
        </p:nvSpPr>
        <p:spPr>
          <a:xfrm>
            <a:off x="8001000" y="4160520"/>
            <a:ext cx="3108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unsafe shell call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pickle load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bare except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5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unbounded wait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8"/>
          <p:cNvSpPr/>
          <p:nvPr/>
        </p:nvSpPr>
        <p:spPr>
          <a:xfrm>
            <a:off x="3063240" y="548640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Each gate sees a different class of failure.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Reference run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sldNum" idx="14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B8D4F5F-E512-4C89-AB89-CA31D9B8D07F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Honest limits: this is an engineering hypothesis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The paper is explicit about what is built and what still needs measurement.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822960" y="1417320"/>
            <a:ext cx="3200040" cy="1828440"/>
          </a:xfrm>
          <a:prstGeom prst="rect">
            <a:avLst/>
          </a:prstGeom>
          <a:solidFill>
            <a:srgbClr val="10263b"/>
          </a:solidFill>
          <a:ln w="12700">
            <a:solidFill>
              <a:srgbClr val="38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Claimed now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coherent assembly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prototype / reference run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explicit artifacts and gates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4480560" y="1417320"/>
            <a:ext cx="3200040" cy="1828440"/>
          </a:xfrm>
          <a:prstGeom prst="rect">
            <a:avLst/>
          </a:prstGeom>
          <a:solidFill>
            <a:srgbClr val="2a1e22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Not claimed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general correctness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universal architecture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validated productivity gain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8138160" y="1417320"/>
            <a:ext cx="3200040" cy="1828440"/>
          </a:xfrm>
          <a:prstGeom prst="rect">
            <a:avLst/>
          </a:prstGeom>
          <a:solidFill>
            <a:srgbClr val="202712"/>
          </a:solidFill>
          <a:ln w="127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To measure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blind comparison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false alarms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quality vs cost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960120" y="4297680"/>
            <a:ext cx="10058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A gate is useful only if it catches real omissions without crying wolf so often that teams disable it.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Limits and validation plan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sldNum" idx="15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F0E6EDA-C6DB-4EEC-ADB7-C415CA2367EC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502920" y="34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Takeaway: manage the constraints, not every diff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530280" y="86868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b8ca"/>
                </a:solidFill>
                <a:effectLst/>
                <a:uFillTx/>
                <a:latin typeface="Aptos"/>
                <a:ea typeface="Aptos"/>
              </a:rPr>
              <a:t>The developer’s role moves upstream, but it must become infrastructure.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914400" y="1417320"/>
            <a:ext cx="456840" cy="319680"/>
          </a:xfrm>
          <a:prstGeom prst="rect">
            <a:avLst/>
          </a:prstGeom>
          <a:solidFill>
            <a:srgbClr val="38d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1554480" y="1463040"/>
            <a:ext cx="7589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Intent must be visible before code exists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914400" y="2240280"/>
            <a:ext cx="456840" cy="319680"/>
          </a:xfrm>
          <a:prstGeom prst="rect">
            <a:avLst/>
          </a:prstGeom>
          <a:solidFill>
            <a:srgbClr val="ffb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1554480" y="2286000"/>
            <a:ext cx="7589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Architecture should be data, not only prose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914400" y="3063240"/>
            <a:ext cx="456840" cy="319680"/>
          </a:xfrm>
          <a:prstGeom prst="rect">
            <a:avLst/>
          </a:prstGeom>
          <a:solidFill>
            <a:srgbClr val="38d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1554480" y="3108960"/>
            <a:ext cx="7589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Admission policy must be outside the agent’s write path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914400" y="3886200"/>
            <a:ext cx="456840" cy="319680"/>
          </a:xfrm>
          <a:prstGeom prst="rect">
            <a:avLst/>
          </a:prstGeom>
          <a:solidFill>
            <a:srgbClr val="ffb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71322"/>
                </a:solidFill>
                <a:effectLst/>
                <a:uFillTx/>
                <a:latin typeface="Aptos"/>
                <a:ea typeface="Aptos"/>
              </a:rPr>
              <a:t>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9"/>
          <p:cNvSpPr/>
          <p:nvPr/>
        </p:nvSpPr>
        <p:spPr>
          <a:xfrm>
            <a:off x="1554480" y="3931920"/>
            <a:ext cx="7589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Code review remains necessary, but it is the last gate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914400" y="5074920"/>
            <a:ext cx="9875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91e9ff"/>
                </a:solidFill>
                <a:effectLst/>
                <a:uFillTx/>
                <a:latin typeface="Aptos Display"/>
                <a:ea typeface="Aptos Display"/>
              </a:rPr>
              <a:t>Agent proposes. Gate decides. Human owns authority.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502920" y="65379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a90"/>
                </a:solidFill>
                <a:effectLst/>
                <a:uFillTx/>
                <a:latin typeface="Aptos"/>
                <a:ea typeface="Aptos"/>
              </a:rPr>
              <a:t>Summary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sldNum" idx="16"/>
          </p:nvPr>
        </p:nvSpPr>
        <p:spPr>
          <a:xfrm>
            <a:off x="11292840" y="6546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C0955B1-238E-4666-A50A-C01B5DE42996}" type="slidenum">
              <a:rPr b="0" lang="en-US" sz="800" strike="noStrike" u="none">
                <a:solidFill>
                  <a:srgbClr val="7b8ea8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Generated with ChatGPT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2026-08-01T19:46:59Z</dcterms:created>
  <dc:creator>Stanislav Rumega</dc:creator>
  <dc:description/>
  <dc:language>en-US</dc:language>
  <cp:lastModifiedBy>Stanislav Rumega</cp:lastModifiedBy>
  <dcterms:modified xsi:type="dcterms:W3CDTF">2026-08-01T19:46:59Z</dcterms:modified>
  <cp:revision>1</cp:revision>
  <dc:subject>Summary of Architect First paper</dc:subject>
  <dc:title>Architect First: Reviewing Intent Before Code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